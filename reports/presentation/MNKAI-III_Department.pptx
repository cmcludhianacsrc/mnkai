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I built an AI that reads skin-lesion photos and I tested it honestly. Two objectives: (1) the AI research — today; (2) building the first North Indian skin dataset — approved for 3-5k photos. The headline: it works on dark skin, where almost every other system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linked problems: existing AI drops to chance on dark skin (0.50-0.57 on the DDI benchmark), and there's essentially no Indian data to fix it — none at all from North India. These two gaps define my two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 two objectives. Objective 1 is the AI research, done and validated internally — today's talk. Objective 2 is the dataset study, already approved — the next phase, one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a photo goes into six frozen pre-trained models; we trained only a small 'probe' on top; that gives calibrated probabilities; then a safety gate decides. If confident, it gives decision support with a cancer flag. If unsure, it abstains and the language model asks the patient history questions. All on a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scientific finding: fine-tuning (retraining the whole model) HURTS when data is scarce — it overwrites the good general features. Freezing the models and training only a tiny head beats it, and runs in minutes on a laptop. Averaging six diverse frozen models is like a tumour board — the consensus beats any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headline. Published models sit near chance on dark skin (0.50-0.57). Ours reaches 0.872. Be honest: their numbers are zero-shot and ours is cross-validated on DDI, so I say 'we reach the achievable ceiling', not 'we beat them'. Still a large, significant, publishable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fairness story and the point of the DDI benchmark. Every published model drops on dark skin by 0.09-0.15. Ours doesn't. IMPORTANT: I say 'no significant disparity', NOT 'better on dark skin' — the intervals overlap, so claiming superiority would be overclaiming.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isn't enough for a clinical tool — it must be safe. Four safety features: honest confidence (calibration), a guaranteed short-list (conformal), knowing when to refer (abstention), and flagging weird inputs (OOD). Almost no published derm AI reports any of these — that's a real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25-condition task: 0.573, honest and leak-free. But be upfront — the dark-skin per-condition estimate is underpowered (only ~135 dark-skin test images). I report that as a limitation, and it's precisely the gap Objective 2 fills with our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builds credibility. Most flashy AI papers over-hype. I caught my own 33% data-leakage bug and re-reported lower, put confidence intervals on everything, ran a control experiment, and made it reproducible with 89 tests. Honesty is the selling point to a clinical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not just a lab result — it's deployable. Runs on a 6GB laptop, you can ship 4 of the 6 models for a third less compute with basically no accuracy loss, and returns a full read in seconds. Then I'll show the live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(1) Open localhost:8800. (2) Upload a clear benign lesion — show the confident differential + low malignancy. (3) Upload a suspicious/ambiguous one — show it flags malignancy and/or abstains and asks history questions. (4) Point out the conformal short-list and the referral recommendation. Keep it to ~3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2, already approved. Why: no North Indian data exists. What: 3-5k photos, two hospitals, a year, with biopsy-confirmed cancers. How: smartphones + app + dermoscope. It follows a proven path (South India's DermaCon-IN, Brazil's PAD-UFES-20) but adds North India and a cancer arm nobody 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done — today. Phase 2 is the approved one-year dataset study. Together they produce two papers. Key line for the committee: publishing Phase 1 first actually strengthens the Phase 2 proposal — a working method plus a clear gap is far more fundable than an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limits builds trust with clinicians. It's decision support, not diagnosis. It's internally validated, not prospectively. The dark-skin cancer set is small and American. The 25-class dark-skin read is underpowered. Every one of these points straight to why Phase 2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one-liner: trustworthy dermatology AI for dark skin, on a laptop. Four takeaways: 0.872 on dark-skin cancer, no disparity, a full safety layer, and the North India dataset next.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MNKAI-III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58368" y="2514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trustworthy AI for dermatology on Indian &amp; dark skin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3154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internal validation of a frozen foundation-model ensemble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4069080"/>
            <a:ext cx="5212080" cy="868680"/>
          </a:xfrm>
          <a:prstGeom prst="roundRect">
            <a:avLst>
              <a:gd name="adj" fmla="val 10526"/>
            </a:avLst>
          </a:prstGeom>
          <a:solidFill>
            <a:srgbClr val="0E3D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4187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44622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Vision-model research  ·  this talk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44768" y="4069080"/>
            <a:ext cx="5212080" cy="868680"/>
          </a:xfrm>
          <a:prstGeom prst="roundRect">
            <a:avLst>
              <a:gd name="adj" fmla="val 10526"/>
            </a:avLst>
          </a:prstGeom>
          <a:solidFill>
            <a:srgbClr val="0E3D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4187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73368" y="44622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North-India dataset  ·  approved (3–5k photos)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Ujjwal Thakran  ·  Christian Medical College, Ludhiana  ·  Department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Dermatology AI fails on the skin it's needed for most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4297680"/>
          </a:xfrm>
          <a:prstGeom prst="roundRect">
            <a:avLst>
              <a:gd name="adj" fmla="val 1915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cancer and skin disease are hardest to spot on brown and dark skin — and that's exactly where AI collapses.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models on the DDI dark-skin benchmark: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DeepDerm — 0.50  (a coin-flip)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ModelDerm — 0.55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 model — 0.57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532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(AUROC — 0.5 is random guessing, 1.0 is perfect)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257800" cy="4297680"/>
          </a:xfrm>
          <a:prstGeom prst="roundRect">
            <a:avLst>
              <a:gd name="adj" fmla="val 1915"/>
            </a:avLst>
          </a:prstGeom>
          <a:solidFill>
            <a:srgbClr val="0A2F38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there is almost no data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400" y="260604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skin datasets are Western — mostly light skin, mostly dermoscopy.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dark-skin cancer benchmark exists (DDI) — and it's American.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dermatology image dataset from North India.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objectives, one mission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67128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trustworthy AI that works across skin tones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foundation-model ensemble + a full safety layer, validated on diverse and dark skin. Runs on a laptop.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507492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this talk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14884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167128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452360" y="21488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first North Indian dermatology dataset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37960" y="33375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3–5k consented photos from two hospitals over a year, dermatologist-labelled, with biopsy-confirmed cancers.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507492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— next phase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 in, a safe clinical read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404872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58368" y="304495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image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42616" y="2697480"/>
            <a:ext cx="237744" cy="27432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2889504" y="214884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0A2F38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99232" y="2404872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frozen AI models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999232" y="304495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pre-trained, untouched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83480" y="2697480"/>
            <a:ext cx="237744" cy="27432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5230368" y="214884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0096" y="2404872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probe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40096" y="304495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part we trained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24344" y="2697480"/>
            <a:ext cx="237744" cy="27432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7571232" y="214884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0" y="2404872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680960" y="304495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probabilities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65208" y="2697480"/>
            <a:ext cx="237744" cy="27432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0" name="Shape 18"/>
          <p:cNvSpPr/>
          <p:nvPr/>
        </p:nvSpPr>
        <p:spPr>
          <a:xfrm>
            <a:off x="9912096" y="214884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CEEE9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21824" y="2404872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021824" y="304495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confident? or refer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5532120" cy="1554480"/>
          </a:xfrm>
          <a:prstGeom prst="roundRect">
            <a:avLst>
              <a:gd name="adj" fmla="val 5294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4526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support: top diagnoses + malignancy flag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3977640"/>
            <a:ext cx="5330952" cy="1554480"/>
          </a:xfrm>
          <a:prstGeom prst="roundRect">
            <a:avLst>
              <a:gd name="adj" fmla="val 5294"/>
            </a:avLst>
          </a:prstGeom>
          <a:solidFill>
            <a:srgbClr val="FCEEE9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3796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37960" y="4526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Abstains, and the LLM asks photo-based history questions before refining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system runs on a 6 GB laptop — no cloud, no GPU cluster.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less beat doing more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E5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expensively re-training a giant AI on our small data (which distorts it), we keep the pre-trained models frozen and train only a tiny classifier on top. In this data-scarce setting, the light touch wins.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0E3D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94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expert models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sees the lesion differently — like a tumour 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35204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0E3D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794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~400k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1772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we trained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86–300 million per frozen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35204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0E3D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3794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1248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train, on a CPU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fine-tuning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Dark-skin cancer detection at the published ceiling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4114800"/>
          </a:xfrm>
          <a:prstGeom prst="roundRect">
            <a:avLst>
              <a:gd name="adj" fmla="val 2432"/>
            </a:avLst>
          </a:prstGeom>
          <a:solidFill>
            <a:srgbClr val="0A2F38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317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AUROC, dark skin (FST V–VI)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 0.81 – 0.93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 vs a single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&lt; 0.001)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Malignant-vs-benign AUROC on dark skin (DDI)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4963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DeepDerm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2514600"/>
            <a:ext cx="4572000" cy="310896"/>
          </a:xfrm>
          <a:prstGeom prst="roundRect">
            <a:avLst>
              <a:gd name="adj" fmla="val 11765"/>
            </a:avLst>
          </a:prstGeom>
          <a:solidFill>
            <a:srgbClr val="E4EDEE"/>
          </a:solidFill>
          <a:ln/>
        </p:spPr>
      </p:sp>
      <p:sp>
        <p:nvSpPr>
          <p:cNvPr id="12" name="Shape 10"/>
          <p:cNvSpPr/>
          <p:nvPr/>
        </p:nvSpPr>
        <p:spPr>
          <a:xfrm>
            <a:off x="6766560" y="2514600"/>
            <a:ext cx="2286000" cy="310896"/>
          </a:xfrm>
          <a:prstGeom prst="roundRect">
            <a:avLst>
              <a:gd name="adj" fmla="val 11765"/>
            </a:avLst>
          </a:prstGeom>
          <a:solidFill>
            <a:srgbClr val="5E717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0" y="2514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30449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ModelDerm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3063240"/>
            <a:ext cx="4572000" cy="310896"/>
          </a:xfrm>
          <a:prstGeom prst="roundRect">
            <a:avLst>
              <a:gd name="adj" fmla="val 11765"/>
            </a:avLst>
          </a:prstGeom>
          <a:solidFill>
            <a:srgbClr val="E4EDEE"/>
          </a:solidFill>
          <a:ln/>
        </p:spPr>
      </p:sp>
      <p:sp>
        <p:nvSpPr>
          <p:cNvPr id="16" name="Shape 14"/>
          <p:cNvSpPr/>
          <p:nvPr/>
        </p:nvSpPr>
        <p:spPr>
          <a:xfrm>
            <a:off x="6766560" y="3063240"/>
            <a:ext cx="2514600" cy="310896"/>
          </a:xfrm>
          <a:prstGeom prst="roundRect">
            <a:avLst>
              <a:gd name="adj" fmla="val 11765"/>
            </a:avLst>
          </a:prstGeom>
          <a:solidFill>
            <a:srgbClr val="5E7176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0" y="3063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35935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3611880"/>
            <a:ext cx="4572000" cy="310896"/>
          </a:xfrm>
          <a:prstGeom prst="roundRect">
            <a:avLst>
              <a:gd name="adj" fmla="val 11765"/>
            </a:avLst>
          </a:prstGeom>
          <a:solidFill>
            <a:srgbClr val="E4EDEE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6560" y="3611880"/>
            <a:ext cx="2606040" cy="310896"/>
          </a:xfrm>
          <a:prstGeom prst="roundRect">
            <a:avLst>
              <a:gd name="adj" fmla="val 11765"/>
            </a:avLst>
          </a:prstGeom>
          <a:solidFill>
            <a:srgbClr val="5E7176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3611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0" y="43251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MNKAI-III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66560" y="4343400"/>
            <a:ext cx="4572000" cy="310896"/>
          </a:xfrm>
          <a:prstGeom prst="roundRect">
            <a:avLst>
              <a:gd name="adj" fmla="val 11765"/>
            </a:avLst>
          </a:prstGeom>
          <a:solidFill>
            <a:srgbClr val="E4EDEE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0" y="4343400"/>
            <a:ext cx="3986784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0" y="43434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46360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frozen models, cross-validated on DDI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52560" y="2468880"/>
            <a:ext cx="0" cy="2331720"/>
          </a:xfrm>
          <a:prstGeom prst="line">
            <a:avLst/>
          </a:prstGeom>
          <a:noFill/>
          <a:ln w="12700">
            <a:solidFill>
              <a:srgbClr val="E4572E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8503920" y="4846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= 0.5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published numbers are zero-shot; ours is cross-validated on DDI. Framed as reaching the achievable ceiling.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disparity disappears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across skin tones (our 6-model ensemble)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591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 (FST I–II)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0" y="2377440"/>
            <a:ext cx="4754880" cy="310896"/>
          </a:xfrm>
          <a:prstGeom prst="roundRect">
            <a:avLst>
              <a:gd name="adj" fmla="val 11765"/>
            </a:avLst>
          </a:prstGeom>
          <a:solidFill>
            <a:srgbClr val="E4EDEE"/>
          </a:solidFill>
          <a:ln/>
        </p:spPr>
      </p:sp>
      <p:sp>
        <p:nvSpPr>
          <p:cNvPr id="7" name="Shape 5"/>
          <p:cNvSpPr/>
          <p:nvPr/>
        </p:nvSpPr>
        <p:spPr>
          <a:xfrm>
            <a:off x="3017520" y="2377440"/>
            <a:ext cx="3718316" cy="310896"/>
          </a:xfrm>
          <a:prstGeom prst="roundRect">
            <a:avLst>
              <a:gd name="adj" fmla="val 11765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23774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670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0.70–0.86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1821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 (FST III–IV)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3200400"/>
            <a:ext cx="4754880" cy="310896"/>
          </a:xfrm>
          <a:prstGeom prst="roundRect">
            <a:avLst>
              <a:gd name="adj" fmla="val 11765"/>
            </a:avLst>
          </a:prstGeom>
          <a:solidFill>
            <a:srgbClr val="E4EDEE"/>
          </a:solidFill>
          <a:ln/>
        </p:spPr>
      </p:sp>
      <p:sp>
        <p:nvSpPr>
          <p:cNvPr id="12" name="Shape 10"/>
          <p:cNvSpPr/>
          <p:nvPr/>
        </p:nvSpPr>
        <p:spPr>
          <a:xfrm>
            <a:off x="3017520" y="3200400"/>
            <a:ext cx="3946550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2004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34930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0.77–0.88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0050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 (FST V–VI)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4023360"/>
            <a:ext cx="4754880" cy="310896"/>
          </a:xfrm>
          <a:prstGeom prst="roundRect">
            <a:avLst>
              <a:gd name="adj" fmla="val 11765"/>
            </a:avLst>
          </a:prstGeom>
          <a:solidFill>
            <a:srgbClr val="E4EDEE"/>
          </a:solidFill>
          <a:ln/>
        </p:spPr>
      </p:sp>
      <p:sp>
        <p:nvSpPr>
          <p:cNvPr id="17" name="Shape 15"/>
          <p:cNvSpPr/>
          <p:nvPr/>
        </p:nvSpPr>
        <p:spPr>
          <a:xfrm>
            <a:off x="3017520" y="4023360"/>
            <a:ext cx="4146255" cy="310896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40233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43159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0.81–0.93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overlap → no statistically significant gap by skin tone.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366760" y="1920240"/>
            <a:ext cx="3291840" cy="3931920"/>
          </a:xfrm>
          <a:prstGeom prst="roundRect">
            <a:avLst>
              <a:gd name="adj" fmla="val 2500"/>
            </a:avLst>
          </a:prstGeom>
          <a:solidFill>
            <a:srgbClr val="0A2F38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4964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− Dark gap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4964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DeepDerm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19556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7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4964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ModelDerm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95560" y="34015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7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549640" y="41513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195560" y="41513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7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549640" y="49011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MNKAI-III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195560" y="49011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−0.09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549640" y="5440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published model is worse on dark skin. Ours is not.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carefully: “no significant disparity” — not “better on dark skin.”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TRUSTWORTHY, NOT JUST ACCURATE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when it doesn't know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084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confidence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5054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 0.21 → 0.042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says 70%, it's right ~70% of the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084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guaranteed short-list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32320" y="25054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set: ~4 of 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Narrows 25 conditions to a small set that contains the answer 90% of the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4233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when to refer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46542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30% → 0.766 accuracy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5074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its hardest cases to a dermatologist instead of guessing.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97680"/>
            <a:ext cx="502920" cy="502920"/>
          </a:xfrm>
          <a:prstGeom prst="ellipse">
            <a:avLst/>
          </a:prstGeom>
          <a:solidFill>
            <a:srgbClr val="0A2F38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4233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the unfamiliar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32320" y="46542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Out-of-distribution gate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non-skin or unusual inputs it shouldn't judge.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published dermatology AI reports none of these safety properties.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CLASSIFICATION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conditions — honest, leak-free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5877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25-class macro-F1 (external, de-duplicated)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0.55–0.59  ·  ~14× chance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4165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9-class base task (cross-validation)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frozen-probe beats fine-tuning on both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965960"/>
            <a:ext cx="6766560" cy="3977640"/>
          </a:xfrm>
          <a:prstGeom prst="roundRect">
            <a:avLst>
              <a:gd name="adj" fmla="val 2069"/>
            </a:avLst>
          </a:prstGeom>
          <a:solidFill>
            <a:srgbClr val="0A2F38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21945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limitation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120640" y="269748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number is solid and leak-free.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dark-skin, per-condition read is underpowered — only ~135 dark-skin test images across 25 conditions (~5 each).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this as a limitation, not a claim.</a:t>
            </a:r>
            <a:endParaRPr lang="en-US" sz="1500" dirty="0"/>
          </a:p>
          <a:p>
            <a:pPr indent="0" marL="0">
              <a:buNone/>
            </a:pPr>
            <a:r>
              <a:rPr lang="en-US" sz="15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is exactly what Objective 2 (our own dataset) fixes.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 TRUST THESE NUMBERS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Rigour is the point, not an afterthought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66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5681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&amp; fixed 33% leakage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9202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hidden train–test duplicates in the public benchmark and re-reported honestly (0.63 → 0.57).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10896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98094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on everything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944368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CIs + significance tests — not single lucky numbers.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3308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0050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experiment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968496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Supervised-vs-self-supervised control to bound what we can actually claim.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01184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15721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029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reproducible re-runs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4992624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pinned; 89 automated tests; the whole pipeline reconstructable.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enough for a real clinic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on-device — no cloud, no GPU cluster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057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61772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to ship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3154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0.870 of 0.872 AUROC for ⅓ less compute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2057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41248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3154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+ cancer flag + referral decision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0A2F38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lesion photo → ranked differential, a guaranteed short-list, a malignancy flag, and — when unsure — the AI asks history questions before it commits. Two-model switcher for base vs Indian tasks.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1828800"/>
            <a:ext cx="2103120" cy="21031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5400000">
            <a:off x="5852160" y="2514600"/>
            <a:ext cx="777240" cy="73152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localhost:8800  —  upload a lesion, watch it produce a differential, flag malignancy, and abstain when unsure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 ·  APPROVED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North Indian dermatology dataset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North Indian skin dataset exists. DDI is American; DermaCon-IN is South India with no cancer arm.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3–5k consented photos · 2 hospitals · 1 year · dermatologist labels · biopsy-confirmed cancers.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smartphone capture + a simple app + a clip-on dermoscope. No costly infrastructure.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93192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path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DermaCon-IN (S. India) &amp; PAD-UFES-20 (Brazil) did exactly this. Ours adds North India + a cancer arm.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Publishable as a dataset paper on its own — and it turns “works on diverse skin” into “works on Indian patients.”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463040" cy="457200"/>
          </a:xfrm>
          <a:prstGeom prst="roundRect">
            <a:avLst>
              <a:gd name="adj" fmla="val 48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— done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Frozen-model ensemble, trust layer, internal validation on diverse &amp; dark skin.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33088" y="3429000"/>
            <a:ext cx="201168" cy="32004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01168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286000"/>
            <a:ext cx="1463040" cy="457200"/>
          </a:xfrm>
          <a:prstGeom prst="roundRect">
            <a:avLst>
              <a:gd name="adj" fmla="val 48000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— 1 year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3886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3–5k North Indian photos with biopsy-confirmed cancers.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27848" y="3429000"/>
            <a:ext cx="201168" cy="32004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201168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EEF5F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2286000"/>
            <a:ext cx="1463040" cy="457200"/>
          </a:xfrm>
          <a:prstGeom prst="roundRect">
            <a:avLst>
              <a:gd name="adj" fmla="val 48000"/>
            </a:avLst>
          </a:prstGeom>
          <a:solidFill>
            <a:srgbClr val="0A2F38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papers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0" y="3886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the AI method + fairness result  ·  (2) the North Indian dataset.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Phase 1 first de-risks Phase 2: a proven method + a clear data gap is the strongest possible case for the dataset.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 — and isn't — yet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BF3E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402336" cy="402336"/>
          </a:xfrm>
          <a:prstGeom prst="ellipse">
            <a:avLst/>
          </a:prstGeom>
          <a:solidFill>
            <a:srgbClr val="D98A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66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not diagnosis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309360" y="1920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safety-first assistant that flags and refers; the dermatologist always decides.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BF3E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108960"/>
            <a:ext cx="402336" cy="402336"/>
          </a:xfrm>
          <a:prstGeom prst="ellipse">
            <a:avLst/>
          </a:prstGeom>
          <a:solidFill>
            <a:srgbClr val="D98A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971800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validation only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309360" y="29443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Cross-validated, not yet prospectively validated on new patients — that's Phase 2.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BF3E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33088"/>
            <a:ext cx="402336" cy="402336"/>
          </a:xfrm>
          <a:prstGeom prst="ellipse">
            <a:avLst/>
          </a:prstGeom>
          <a:solidFill>
            <a:srgbClr val="D98A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995928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Dark-skin cancer set is small &amp; American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09360" y="396849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DDI: 656 images, one US clinic. Strong but data-limited; wide intervals.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01184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BF3E6"/>
          </a:solidFill>
          <a:ln w="12700">
            <a:solidFill>
              <a:srgbClr val="D6E5E7"/>
            </a:solidFill>
            <a:prstDash val="solid"/>
          </a:ln>
          <a:effectLst>
            <a:outerShdw sx="100000" sy="100000" kx="0" ky="0" algn="bl" rotWithShape="0" blurRad="76200" dist="38100" dir="5400000">
              <a:srgbClr val="9AB2B6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157216"/>
            <a:ext cx="402336" cy="402336"/>
          </a:xfrm>
          <a:prstGeom prst="ellipse">
            <a:avLst/>
          </a:prstGeom>
          <a:solidFill>
            <a:srgbClr val="D98A0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020056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25-class dark-skin is underpowered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309360" y="499262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~135 dark-skin test images — reported as a limitation, fixed by our dataset.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dermatology AI for dark skin — on a laptop.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E3D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dark-skin cancer AUROC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24688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E3D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disparity by skin tone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4688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E3D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+ referral safety layer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15400" y="24688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E3D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5256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 dataset — next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Ujjwal Thakran  ·  CMC Ludhiana  ·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MNKAI-III Department Presentation</dc:title>
  <dc:subject>PptxGenJS Presentation</dc:subject>
  <dc:creator>Ujjwal Thakran</dc:creator>
  <cp:lastModifiedBy>Ujjwal Thakran</cp:lastModifiedBy>
  <cp:revision>1</cp:revision>
  <dcterms:created xsi:type="dcterms:W3CDTF">2026-07-17T15:42:05Z</dcterms:created>
  <dcterms:modified xsi:type="dcterms:W3CDTF">2026-07-17T15:42:05Z</dcterms:modified>
</cp:coreProperties>
</file>